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200400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Early-Warning System for Risk-Off Regimes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4D2F0"/>
                </a:solidFill>
                <a:latin typeface="Calibri"/>
              </a:defRPr>
            </a:pPr>
            <a:r>
              <a:t>with Domain-Specific Allocation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BEDC"/>
                </a:solidFill>
                <a:latin typeface="Calibri"/>
              </a:defRPr>
            </a:pPr>
            <a:r>
              <a:t>Unsupervised Anomaly Detection for Regime-Aware Portfolio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Edoardo Ercelli  ·  Luca Galli  ·  Francesco Impenati  ·  Francesco Mazzini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Calibri"/>
              </a:defRPr>
            </a:pPr>
            <a:r>
              <a:t>POLIMI Graduate School of Management — Politecnico di Milano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Calibri"/>
              </a:defRPr>
            </a:pPr>
            <a:r>
              <a:t>New Technologies for Finance —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3A5C"/>
                </a:solidFill>
                <a:latin typeface="Calibri"/>
              </a:defRPr>
            </a:pPr>
            <a:r>
              <a:t>The gap in traditional risk management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  <a:latin typeface="Calibri"/>
              </a:defRPr>
            </a:pPr>
            <a:r>
              <a:t>• Most early-warning systems treat risk-off as a binary decision: equity vs. cash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  <a:latin typeface="Calibri"/>
              </a:defRPr>
            </a:pPr>
            <a:r>
              <a:t>• But crises are heterogeneous: in 2008 the USD was the safe haven (dollar funding squeeze); in 2020 it initially strengthened then weakened; in an inflationary stress regime, gold outperforms</a:t>
            </a:r>
          </a:p>
          <a:p>
            <a:pPr>
              <a:spcAft>
                <a:spcPts val="1000"/>
              </a:spcAft>
              <a:defRPr sz="1200" b="0">
                <a:solidFill>
                  <a:srgbClr val="3C3C3C"/>
                </a:solidFill>
                <a:latin typeface="Calibri"/>
              </a:defRPr>
            </a:pPr>
            <a:r>
              <a:t>• No existing framework combines regime detection with allocation routing based on the nature of the stress</a:t>
            </a:r>
          </a:p>
          <a:p>
            <a:pPr>
              <a:spcAft>
                <a:spcPts val="600"/>
              </a:spcAft>
              <a:defRPr sz="1600" b="1">
                <a:solidFill>
                  <a:srgbClr val="1A3A5C"/>
                </a:solidFill>
                <a:latin typeface="Calibri"/>
              </a:defRPr>
            </a:pPr>
            <a:r>
              <a:t>Our contribution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  <a:latin typeface="Calibri"/>
              </a:defRPr>
            </a:pPr>
            <a:r>
              <a:t>An EWS that answers two questions simultaneously:</a:t>
            </a:r>
          </a:p>
          <a:p>
            <a:pPr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1. WHEN to go risk-off (ensemble anomaly detection)</a:t>
            </a:r>
          </a:p>
          <a:p>
            <a:pPr>
              <a:spcAft>
                <a:spcPts val="4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2. WHERE to allocate (domain-specific macro routing)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02920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3A5C"/>
                </a:solidFill>
                <a:latin typeface="Calibri"/>
              </a:defRPr>
            </a:pPr>
            <a:r>
              <a:t>Investment Thesis</a:t>
            </a:r>
          </a:p>
          <a:p>
            <a:pPr>
              <a:spcAft>
                <a:spcPts val="800"/>
              </a:spcAft>
              <a:defRPr sz="1200" b="0">
                <a:solidFill>
                  <a:srgbClr val="3C3C3C"/>
                </a:solidFill>
                <a:latin typeface="Calibri"/>
              </a:defRPr>
            </a:pPr>
            <a:r>
              <a:t>Deploy 1.5× equity leverage during calm regimes to exploit the equity risk premium, and rely on the EWS to detect stress early enough to avoid drawdowns — maximizing the Sharpe ratio.</a:t>
            </a:r>
          </a:p>
          <a:p>
            <a:pPr>
              <a:spcAft>
                <a:spcPts val="800"/>
              </a:spcAft>
              <a:defRPr sz="1200" b="0">
                <a:solidFill>
                  <a:srgbClr val="C0392B"/>
                </a:solidFill>
                <a:latin typeface="Calibri"/>
              </a:defRPr>
            </a:pPr>
            <a:r>
              <a:t>The leverage is justified only if the detection system has sufficient recall: missing a crisis at 1.5× is costlier than at 1.0×.</a:t>
            </a:r>
          </a:p>
          <a:p>
            <a:pPr>
              <a:defRPr sz="1100" b="0">
                <a:solidFill>
                  <a:srgbClr val="8C8C8C"/>
                </a:solidFill>
                <a:latin typeface="Calibri"/>
              </a:defRPr>
            </a:pPr>
            <a:r>
              <a:t>This creates a built-in accountability constraint on model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297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C8C8C"/>
                </a:solidFill>
                <a:latin typeface="Calibri"/>
              </a:defRPr>
            </a:pPr>
            <a:r>
              <a:t>Key references</a:t>
            </a:r>
          </a:p>
          <a:p>
            <a:pPr>
              <a:spcAft>
                <a:spcPts val="200"/>
              </a:spcAft>
              <a:defRPr sz="1000" b="0">
                <a:solidFill>
                  <a:srgbClr val="8C8C8C"/>
                </a:solidFill>
                <a:latin typeface="Calibri"/>
              </a:defRPr>
            </a:pPr>
            <a:r>
              <a:t>Maggiori (2020) — dollar as global safe asset</a:t>
            </a:r>
          </a:p>
          <a:p>
            <a:pPr>
              <a:spcAft>
                <a:spcPts val="200"/>
              </a:spcAft>
              <a:defRPr sz="1000" b="0">
                <a:solidFill>
                  <a:srgbClr val="8C8C8C"/>
                </a:solidFill>
                <a:latin typeface="Calibri"/>
              </a:defRPr>
            </a:pPr>
            <a:r>
              <a:t>Baur &amp; Lucey (2010) — gold: hedge vs. safe haven</a:t>
            </a:r>
          </a:p>
          <a:p>
            <a:pPr>
              <a:defRPr sz="1000" b="0">
                <a:solidFill>
                  <a:srgbClr val="8C8C8C"/>
                </a:solidFill>
                <a:latin typeface="Calibri"/>
              </a:defRPr>
            </a:pPr>
            <a:r>
              <a:t>Avdjiev et al. (2019) — dollar-leverage-flows triangle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Dataset Overview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Bloomberg weekly data — 2000 to 2021 — 1,111 observations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43 features: 7 MSCI equity, 3 FX, 4 commodities, 8 bond TR indices, 18 yields/rates, VIX, US Economic Surprise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Target Y=1: risk-off week (21.3% prevalence, 237/1111 weeks)</a:t>
            </a:r>
          </a:p>
          <a:p>
            <a:pPr>
              <a:spcAft>
                <a:spcPts val="10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No missing values across entire dataset</a:t>
            </a:r>
          </a:p>
          <a:p>
            <a:pPr>
              <a:spcAft>
                <a:spcPts val="400"/>
              </a:spcAft>
              <a:defRPr sz="1200" b="1">
                <a:solidFill>
                  <a:srgbClr val="1A3A5C"/>
                </a:solidFill>
                <a:latin typeface="Calibri"/>
              </a:defRPr>
            </a:pPr>
            <a:r>
              <a:t>Proxy decisions (maintained throughout):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MSCI World (absent) → MXUS as single-name proxy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Global Aggregate (absent) → LUACTRUU (US IG Corporate TR)</a:t>
            </a:r>
          </a:p>
          <a:p>
            <a:pPr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Credit spreads = log price-index ratios (not OAS yields)</a:t>
            </a:r>
          </a:p>
        </p:txBody>
      </p:sp>
      <p:pic>
        <p:nvPicPr>
          <p:cNvPr id="9" name="Picture 8" descr="fig_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97280"/>
            <a:ext cx="5669280" cy="19364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411480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Calibri"/>
              </a:defRPr>
            </a:pPr>
            <a:r>
              <a:t>Risk-off clusters in 2000–02, 2008–09, 2011–12, 2020. Mid-decade years have near-zero positives — this data property critically shapes cross-validation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Three Macroeconomic Domains for Routing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566160" cy="5029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980B9"/>
                </a:solidFill>
                <a:latin typeface="Calibri"/>
              </a:defRPr>
            </a:pPr>
            <a:r>
              <a:t>USD Domain</a:t>
            </a:r>
          </a:p>
          <a:p>
            <a:pPr>
              <a:spcAft>
                <a:spcPts val="8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Dollar is safe haven when stress is global but external to the US, or during dollar funding squeeze (Avdjiev et al. 2019).</a:t>
            </a:r>
          </a:p>
          <a:p>
            <a:pPr>
              <a:spcAft>
                <a:spcPts val="400"/>
              </a:spcAft>
              <a:defRPr sz="1100" b="1">
                <a:solidFill>
                  <a:srgbClr val="1A3A5C"/>
                </a:solidFill>
                <a:latin typeface="Calibri"/>
              </a:defRPr>
            </a:pPr>
            <a:r>
              <a:t>Triggers (signed z-scores):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[+] LIBOR-3M spread Δ4w (funding stress)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[+] DXY momentum Δ4w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[+] VRP (implied &gt; realized vol)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[−] US 10Y Δ change (Treasury flight)</a:t>
            </a:r>
          </a:p>
          <a:p>
            <a:pPr>
              <a:defRPr sz="1000" b="0">
                <a:solidFill>
                  <a:srgbClr val="3C3C3C"/>
                </a:solidFill>
                <a:latin typeface="Calibri"/>
              </a:defRPr>
            </a:pPr>
            <a:r>
              <a:t>[+] USA relative vs DM composite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5029200"/>
          </a:xfrm>
          <a:prstGeom prst="rect">
            <a:avLst/>
          </a:prstGeom>
          <a:solidFill>
            <a:srgbClr val="FFF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7160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A000"/>
                </a:solidFill>
                <a:latin typeface="Calibri"/>
              </a:defRPr>
            </a:pPr>
            <a:r>
              <a:t>Gold Domain</a:t>
            </a:r>
          </a:p>
          <a:p>
            <a:pPr>
              <a:spcAft>
                <a:spcPts val="8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Gold when stress has monetary/inflationary component or the dollar itself is the problem (Baur &amp; Lucey 2010; Erb &amp; Harvey 2013).</a:t>
            </a:r>
          </a:p>
          <a:p>
            <a:pPr>
              <a:spcAft>
                <a:spcPts val="400"/>
              </a:spcAft>
              <a:defRPr sz="1100" b="1">
                <a:solidFill>
                  <a:srgbClr val="1A3A5C"/>
                </a:solidFill>
                <a:latin typeface="Calibri"/>
              </a:defRPr>
            </a:pPr>
            <a:r>
              <a:t>Triggers (signed z-scores):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[−] Real yield proxy Δ4w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[−] DXY Δ4w (opposite sign!)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[+] JPY strength (safe haven)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[+] Equity-bond ρ 13w (diversif. failure)</a:t>
            </a:r>
          </a:p>
          <a:p>
            <a:pPr>
              <a:defRPr sz="1000" b="0">
                <a:solidFill>
                  <a:srgbClr val="3C3C3C"/>
                </a:solidFill>
                <a:latin typeface="Calibri"/>
              </a:defRPr>
            </a:pPr>
            <a:r>
              <a:t>[+] Gold-oil ratio Δ4w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5029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C8C8C"/>
                </a:solidFill>
                <a:latin typeface="Calibri"/>
              </a:defRPr>
            </a:pPr>
            <a:r>
              <a:t>MBS Domain</a:t>
            </a:r>
          </a:p>
          <a:p>
            <a:pPr>
              <a:spcAft>
                <a:spcPts val="8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MBS is NOT a crisis refuge — it is defensive carry for moderate stress only (Diep et al. 2021).</a:t>
            </a:r>
          </a:p>
          <a:p>
            <a:pPr>
              <a:spcAft>
                <a:spcPts val="400"/>
              </a:spcAft>
              <a:defRPr sz="1100" b="1">
                <a:solidFill>
                  <a:srgbClr val="1A3A5C"/>
                </a:solidFill>
                <a:latin typeface="Calibri"/>
              </a:defRPr>
            </a:pPr>
            <a:r>
              <a:t>Rule-based activation: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VIX ∈ [20, 28] (nervous, not panic)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Term spread &gt; 0 (normal curve)</a:t>
            </a:r>
          </a:p>
          <a:p>
            <a:pPr>
              <a:spcAft>
                <a:spcPts val="6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Drawdown ∈ [−12%, −5%]</a:t>
            </a:r>
          </a:p>
          <a:p>
            <a:pPr>
              <a:spcAft>
                <a:spcPts val="4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Blocked if: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VIX &gt; 30 (acute stress)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Funding spread &gt; p90</a:t>
            </a:r>
          </a:p>
          <a:p>
            <a:pPr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HY-IG widening &gt; 50bps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Note: DXY appears in both USD (+) and Gold (−) domains with opposite sign — same indicator, opposite economic reading. By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Routing Architecture &amp; Decision Matrix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Allocation Decision Matrix</a:t>
            </a:r>
          </a:p>
          <a:p>
            <a:pPr>
              <a:spcAft>
                <a:spcPts val="300"/>
              </a:spcAft>
              <a:defRPr sz="1200" b="0">
                <a:solidFill>
                  <a:srgbClr val="27AE60"/>
                </a:solidFill>
                <a:latin typeface="Calibri"/>
              </a:defRPr>
            </a:pPr>
            <a:r>
              <a:t>Risk-on (signal=0)    →  EQUITY (1.5× equity, −0.5× cash)</a:t>
            </a:r>
          </a:p>
          <a:p>
            <a:pPr>
              <a:spcAft>
                <a:spcPts val="300"/>
              </a:spcAft>
              <a:defRPr sz="1200" b="0">
                <a:solidFill>
                  <a:srgbClr val="2980B9"/>
                </a:solidFill>
                <a:latin typeface="Calibri"/>
              </a:defRPr>
            </a:pPr>
            <a:r>
              <a:t>Risk-off + USD &gt; τ + DXY↑  →  CASH USD</a:t>
            </a:r>
          </a:p>
          <a:p>
            <a:pPr>
              <a:spcAft>
                <a:spcPts val="300"/>
              </a:spcAft>
              <a:defRPr sz="1200" b="0">
                <a:solidFill>
                  <a:srgbClr val="C8A000"/>
                </a:solidFill>
                <a:latin typeface="Calibri"/>
              </a:defRPr>
            </a:pPr>
            <a:r>
              <a:t>Risk-off + Gold &gt; τ       →  GOLD</a:t>
            </a:r>
          </a:p>
          <a:p>
            <a:pPr>
              <a:spcAft>
                <a:spcPts val="300"/>
              </a:spcAft>
              <a:defRPr sz="1200" b="0">
                <a:solidFill>
                  <a:srgbClr val="8C8C8C"/>
                </a:solidFill>
                <a:latin typeface="Calibri"/>
              </a:defRPr>
            </a:pPr>
            <a:r>
              <a:t>Risk-off + MBS active     →  MBS</a:t>
            </a:r>
          </a:p>
          <a:p>
            <a:pPr>
              <a:spcAft>
                <a:spcPts val="1200"/>
              </a:spcAft>
              <a:defRPr sz="1200" b="0">
                <a:solidFill>
                  <a:srgbClr val="2980B9"/>
                </a:solidFill>
                <a:latin typeface="Calibri"/>
              </a:defRPr>
            </a:pPr>
            <a:r>
              <a:t>Risk-off + default         →  CASH USD</a:t>
            </a:r>
          </a:p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Design principles: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Priority: USD → Gold → MBS (funding stress is most urgent)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Default = Cash: zero-cost, doesn't compound errors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TC differentiated: equity 5bps, cash 2bps, gold 8bps, MBS 20bps</a:t>
            </a:r>
          </a:p>
          <a:p>
            <a:pPr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Only 2 scalar thresholds optimized — rest is rule-based from macro rationale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Sub-Score Construction</a:t>
            </a:r>
          </a:p>
          <a:p>
            <a:pPr>
              <a:spcAft>
                <a:spcPts val="8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S = (1/|D|) × Σ sign × (x − μ_dev) / σ_dev</a:t>
            </a:r>
          </a:p>
          <a:p>
            <a:pPr>
              <a:spcAft>
                <a:spcPts val="600"/>
              </a:spcAft>
              <a:defRPr sz="1100" b="0">
                <a:solidFill>
                  <a:srgbClr val="C0392B"/>
                </a:solidFill>
                <a:latin typeface="Calibri"/>
              </a:defRPr>
            </a:pPr>
            <a:r>
              <a:t>μ and σ estimated ONLY on development set (no leakage)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Threshold optimization: grid search τ_usd × τ_gold,</a:t>
            </a:r>
          </a:p>
          <a:p>
            <a:pPr>
              <a:defRPr sz="1100" b="0">
                <a:solidFill>
                  <a:srgbClr val="3C3C3C"/>
                </a:solidFill>
                <a:latin typeface="Calibri"/>
              </a:defRPr>
            </a:pPr>
            <a:r>
              <a:t>selecting by Calmar ratio weighted by fold duration</a:t>
            </a:r>
          </a:p>
        </p:txBody>
      </p:sp>
      <p:pic>
        <p:nvPicPr>
          <p:cNvPr id="11" name="Picture 10" descr="fig_calma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5029200" cy="3341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Feature Engineering: Stationarity &amp; Cross-Asset Spreads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Stationarity transforms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Anomaly detection assumes stable distribution — non-stationary features violate this fundamentally.</a:t>
            </a:r>
          </a:p>
          <a:p>
            <a:pPr>
              <a:spcAft>
                <a:spcPts val="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Log-returns: prices (equity, FX, commodities, bond TR)</a:t>
            </a:r>
          </a:p>
          <a:p>
            <a:pPr>
              <a:spcAft>
                <a:spcPts val="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First differences: yields and rates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Level: VIX, ECSURPUS (already stationary)</a:t>
            </a:r>
          </a:p>
          <a:p>
            <a:pPr>
              <a:spcAft>
                <a:spcPts val="80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Result: 42/42 features pass ADF at 5%</a:t>
            </a:r>
          </a:p>
          <a:p>
            <a:pPr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20 cross-asset spreads constructed: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Term: US 10Y−2Y, DE 10Y−2Y, BTP−Bund, US−DE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Credit: HY-IG, EM (log price ratios, safe − risky)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VRP: VIX − realized vol (4w, annualized)</a:t>
            </a:r>
          </a:p>
          <a:p>
            <a:pPr>
              <a:spcAft>
                <a:spcPts val="4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Equity-bond rotation, gold-oil ratio, JPY strength</a:t>
            </a:r>
          </a:p>
          <a:p>
            <a:pPr>
              <a:defRPr sz="1100" b="1">
                <a:solidFill>
                  <a:srgbClr val="1A3A5C"/>
                </a:solidFill>
                <a:latin typeface="Calibri"/>
              </a:defRPr>
            </a:pPr>
            <a:r>
              <a:t>7 collinear features removed (|ρ| &gt; 0.9) → 56 clean features</a:t>
            </a:r>
          </a:p>
        </p:txBody>
      </p:sp>
      <p:pic>
        <p:nvPicPr>
          <p:cNvPr id="9" name="Picture 8" descr="fig_routing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669280" cy="46686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Walk-Forward Cross-Validation with Purged Embargo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Design rationale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Expanding window: train always starts at t₀ — mimics real deployment</a:t>
            </a:r>
          </a:p>
          <a:p>
            <a:pPr>
              <a:spcAft>
                <a:spcPts val="6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4-week embargo: we drop the first 4 observations between train end and val start. This eliminates data leakage from all 4-week lookback features (Δ4w, rolling windows, EWMA warm-up). No temporal overlap is possible.</a:t>
            </a:r>
          </a:p>
          <a:p>
            <a:pPr>
              <a:spcAft>
                <a:spcPts val="8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• Test holdout (2019–2021): SEALED. Never touched during selection or tuning.</a:t>
            </a:r>
          </a:p>
          <a:p>
            <a:pPr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Why weighted-by-n_pos aggregation?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Folds 1–2 have 53/64 positives (GFC, Euro Debt) — statistically reliable. Folds 3–5 have only 2/10/6 positives because 2013–2018 is a structurally low-volatility regime. This is a data property, not a design error.</a:t>
            </a:r>
          </a:p>
          <a:p>
            <a:pPr>
              <a:defRPr sz="1100" b="0">
                <a:solidFill>
                  <a:srgbClr val="3C3C3C"/>
                </a:solidFill>
                <a:latin typeface="Calibri"/>
              </a:defRPr>
            </a:pPr>
            <a:r>
              <a:t>Weighting by n_pos ensures folds 1–2 dominate the CV metric while folds 3–5 contribute at the margin without introducing noise.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188720"/>
            <a:ext cx="457200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371600"/>
            <a:ext cx="4206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3A5C"/>
                </a:solidFill>
                <a:latin typeface="Calibri"/>
              </a:defRPr>
            </a:pPr>
            <a:r>
              <a:t>Fold    Val Period       Y=1%    n_pos   Crisis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  1      2007–2009      34.9%      53     GFC 2008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  2      2010–2012      41.7%      64     Euro Debt</a:t>
            </a:r>
          </a:p>
          <a:p>
            <a:pPr>
              <a:spcAft>
                <a:spcPts val="200"/>
              </a:spcAft>
              <a:defRPr sz="1000" b="0">
                <a:solidFill>
                  <a:srgbClr val="8C8C8C"/>
                </a:solidFill>
                <a:latin typeface="Calibri"/>
              </a:defRPr>
            </a:pPr>
            <a:r>
              <a:t>  3      2013–2014        2.0%        2     Taper 2013</a:t>
            </a:r>
          </a:p>
          <a:p>
            <a:pPr>
              <a:spcAft>
                <a:spcPts val="200"/>
              </a:spcAft>
              <a:defRPr sz="1000" b="0">
                <a:solidFill>
                  <a:srgbClr val="8C8C8C"/>
                </a:solidFill>
                <a:latin typeface="Calibri"/>
              </a:defRPr>
            </a:pPr>
            <a:r>
              <a:t>  4      2015–2016      10.1%      10     China-Oil</a:t>
            </a:r>
          </a:p>
          <a:p>
            <a:pPr>
              <a:spcAft>
                <a:spcPts val="600"/>
              </a:spcAft>
              <a:defRPr sz="1000" b="0">
                <a:solidFill>
                  <a:srgbClr val="8C8C8C"/>
                </a:solidFill>
                <a:latin typeface="Calibri"/>
              </a:defRPr>
            </a:pPr>
            <a:r>
              <a:t>  5      2017–2018        6.1%        6     Q4 Selloff</a:t>
            </a:r>
          </a:p>
          <a:p>
            <a:pPr>
              <a:defRPr sz="1000" b="1">
                <a:solidFill>
                  <a:srgbClr val="C0392B"/>
                </a:solidFill>
                <a:latin typeface="Calibri"/>
              </a:defRPr>
            </a:pPr>
            <a:r>
              <a:t>Folds 3–5 are thin → n_pos weighting essential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4572000"/>
            <a:ext cx="4572000" cy="16459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66344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C0392B"/>
                </a:solidFill>
                <a:latin typeface="Calibri"/>
              </a:defRPr>
            </a:pPr>
            <a:r>
              <a:t>Scaler discipline (critical)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StandardScaler fit ONLY on each fold's train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Test holdout: scaler fit on full development set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AE early stopping: temporal sub-split of train</a:t>
            </a:r>
          </a:p>
          <a:p>
            <a:pPr>
              <a:defRPr sz="1000" b="1">
                <a:solidFill>
                  <a:srgbClr val="C0392B"/>
                </a:solidFill>
                <a:latin typeface="Calibri"/>
              </a:defRPr>
            </a:pPr>
            <a:r>
              <a:t>This is the #1 source of silent leakage in ML finance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Four Anomaly Detection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Calibri"/>
              </a:defRPr>
            </a:pPr>
            <a:r>
              <a:t>Novelty detection: trained on normal weeks (Y=0) only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1. Multivariate Gaussian (MVG)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Score = squared Mahalanobis distance: d²(x) = (x−μ)ᵀ Σ⁻¹ (x−μ)</a:t>
            </a:r>
          </a:p>
          <a:p>
            <a:pPr>
              <a:defRPr sz="1000" b="0">
                <a:solidFill>
                  <a:srgbClr val="3C3C3C"/>
                </a:solidFill>
                <a:latin typeface="Calibri"/>
              </a:defRPr>
            </a:pPr>
            <a:r>
              <a:t>Ledoit-Wolf shrinkage is mandatory: with 56 features and ~360 normals in Fold 1, the sample covariance is near-singular. LW computes the optimal shrinkage Σ* = (1−α)Σ + α·(tr(Σ)/p)·I minimizing expected Frobenius loss — producing a well-conditioned estimator.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2. One-Class SVM (RBF kernel)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Maps normals to high-dim feature space, finds smallest hypersphere.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Grid: ν ∈ {0.05, 0.10, 0.15, 0.22} × γ ∈ {scale, auto, 0.01, 0.001}</a:t>
            </a:r>
          </a:p>
          <a:p>
            <a:pPr>
              <a:defRPr sz="1100" b="1">
                <a:solidFill>
                  <a:srgbClr val="2980B9"/>
                </a:solidFill>
                <a:latin typeface="Calibri"/>
              </a:defRPr>
            </a:pPr>
            <a:r>
              <a:t>Best: ν=0.05, γ=0.001 — selected by weighted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3. Autoencoder (symmetric bottleneck)</a:t>
            </a:r>
          </a:p>
          <a:p>
            <a:pPr>
              <a:spcAft>
                <a:spcPts val="300"/>
              </a:spcAft>
              <a:defRPr sz="1200" b="1">
                <a:solidFill>
                  <a:srgbClr val="2980B9"/>
                </a:solidFill>
                <a:latin typeface="Calibri"/>
              </a:defRPr>
            </a:pPr>
            <a:r>
              <a:t>56 → 24 → 12 → 6 → 12 → 24 → 56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ReLU, dropout 0.15, Adam lr=1e-3, MSE loss</a:t>
            </a:r>
          </a:p>
          <a:p>
            <a:pPr>
              <a:defRPr sz="1000" b="0">
                <a:solidFill>
                  <a:srgbClr val="C0392B"/>
                </a:solidFill>
                <a:latin typeface="Calibri"/>
              </a:defRPr>
            </a:pPr>
            <a:r>
              <a:t>Early stopping on temporal 85/15 sub-split of train normals — NEVER on the CV validation fold (leakage)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40480"/>
            <a:ext cx="5486400" cy="228600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4. Isolation Forest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200 trees, random partitioning. Anomalies isolated in fewer splits.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Grid: contamination ∈ {0.05, 0.10, 0.15, 0.22}. Best: 0.10</a:t>
            </a:r>
          </a:p>
          <a:p>
            <a:pPr>
              <a:defRPr sz="1100" b="0">
                <a:solidFill>
                  <a:srgbClr val="3C3C3C"/>
                </a:solidFill>
                <a:latin typeface="Calibri"/>
              </a:defRPr>
            </a:pPr>
            <a:r>
              <a:t>Threshold fine-tuned via walk-forward weighted by n_pos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Model Results — Test Holdout (2019–2021)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66928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3A5C"/>
                </a:solidFill>
                <a:latin typeface="Calibri"/>
              </a:defRPr>
            </a:pPr>
            <a:r>
              <a:t>           F1      AUC-ROC  AUC-PR   Prec    Recall   F2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MVG     0.516    0.886     0.770    1.000   0.348   0.400</a:t>
            </a:r>
          </a:p>
          <a:p>
            <a:pPr>
              <a:spcAft>
                <a:spcPts val="200"/>
              </a:spcAft>
              <a:defRPr sz="1000" b="1">
                <a:solidFill>
                  <a:srgbClr val="2980B9"/>
                </a:solidFill>
                <a:latin typeface="Calibri"/>
              </a:defRPr>
            </a:pPr>
            <a:r>
              <a:t>SVM     0.615    0.851     0.732    0.750   0.522   0.556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IF       0.583    0.810     0.680    0.560   0.609   0.598</a:t>
            </a:r>
          </a:p>
          <a:p>
            <a:pPr>
              <a:defRPr sz="1000" b="0">
                <a:solidFill>
                  <a:srgbClr val="3C3C3C"/>
                </a:solidFill>
                <a:latin typeface="Calibri"/>
              </a:defRPr>
            </a:pPr>
            <a:r>
              <a:t>AE      0.516    0.873     0.764    1.000   0.348   0.400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3A5C"/>
                </a:solidFill>
                <a:latin typeface="Calibri"/>
              </a:defRPr>
            </a:pPr>
            <a:r>
              <a:t>Key observations: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MVG &amp; AE: perfect precision but low recall — conservative thresholds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SVM: best single model on F1 (balanced precision/recall)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IF: highest recall (catches 61% of risk-off weeks)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MVG highest AUC-ROC (0.886): ranking is good, threshold conservative</a:t>
            </a:r>
          </a:p>
          <a:p>
            <a:pPr>
              <a:defRPr sz="1100" b="1">
                <a:solidFill>
                  <a:srgbClr val="C0392B"/>
                </a:solidFill>
                <a:latin typeface="Calibri"/>
              </a:defRPr>
            </a:pPr>
            <a:r>
              <a:t>• F2 (β=2) weights recall double: missing a crisis at 1.5× is costly</a:t>
            </a:r>
          </a:p>
        </p:txBody>
      </p:sp>
      <p:pic>
        <p:nvPicPr>
          <p:cNvPr id="11" name="Picture 10" descr="fig_mvg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21518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Ensemble: Combining Four Diverse Detectors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Why ensemble?</a:t>
            </a:r>
          </a:p>
          <a:p>
            <a:pPr>
              <a:spcAft>
                <a:spcPts val="8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Each model captures different anomaly aspects: distributional shift (MVG), boundary violations (SVM), reconstruction difficulty (AE), structural isolation (IF). If errors are uncorrelated, combining reduces both FP and FN.</a:t>
            </a:r>
          </a:p>
          <a:p>
            <a:pPr>
              <a:spcAft>
                <a:spcPts val="400"/>
              </a:spcAft>
              <a:defRPr sz="1300" b="1">
                <a:solidFill>
                  <a:srgbClr val="1A3A5C"/>
                </a:solidFill>
                <a:latin typeface="Calibri"/>
              </a:defRPr>
            </a:pPr>
            <a:r>
              <a:t>Percentile mapping:</a:t>
            </a:r>
          </a:p>
          <a:p>
            <a:pPr>
              <a:spcAft>
                <a:spcPts val="6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Raw scores are on incomparable scales. We convert each to its empirical percentile against the train-normals distribution: p = F_train(s). All scores become ∈ [0,1].</a:t>
            </a:r>
          </a:p>
          <a:p>
            <a:pPr>
              <a:spcAft>
                <a:spcPts val="400"/>
              </a:spcAft>
              <a:defRPr sz="1300" b="1">
                <a:solidFill>
                  <a:srgbClr val="1A3A5C"/>
                </a:solidFill>
                <a:latin typeface="Calibri"/>
              </a:defRPr>
            </a:pPr>
            <a:r>
              <a:t>Three variants:</a:t>
            </a:r>
          </a:p>
          <a:p>
            <a:pPr>
              <a:spcAft>
                <a:spcPts val="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1. Hard voting: majority (≥3/4) wins</a:t>
            </a:r>
          </a:p>
          <a:p>
            <a:pPr>
              <a:spcAft>
                <a:spcPts val="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2. Soft mean: average of percentiles, threshold τ tuned on CV</a:t>
            </a:r>
          </a:p>
          <a:p>
            <a:pPr>
              <a:spcAft>
                <a:spcPts val="6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3. Soft median: robust to one rogue model</a:t>
            </a:r>
          </a:p>
          <a:p>
            <a:pPr>
              <a:defRPr sz="1300" b="1">
                <a:solidFill>
                  <a:srgbClr val="27AE60"/>
                </a:solidFill>
                <a:latin typeface="Calibri"/>
              </a:defRPr>
            </a:pPr>
            <a:r>
              <a:t>Winner: Soft Mean (F1=0.650, beats best single 0.615)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A3A5C"/>
                </a:solidFill>
                <a:latin typeface="Calibri"/>
              </a:defRPr>
            </a:pPr>
            <a:r>
              <a:t>                  F1       AUC-ROC  AUC-PR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Hard Vote     0.516    0.859     0.742</a:t>
            </a:r>
          </a:p>
          <a:p>
            <a:pPr>
              <a:spcAft>
                <a:spcPts val="200"/>
              </a:spcAft>
              <a:defRPr sz="1000" b="1">
                <a:solidFill>
                  <a:srgbClr val="27AE60"/>
                </a:solidFill>
                <a:latin typeface="Calibri"/>
              </a:defRPr>
            </a:pPr>
            <a:r>
              <a:t>Soft Mean     0.650    0.859     0.742</a:t>
            </a:r>
          </a:p>
          <a:p>
            <a:pPr>
              <a:defRPr sz="1000" b="0">
                <a:solidFill>
                  <a:srgbClr val="3C3C3C"/>
                </a:solidFill>
                <a:latin typeface="Calibri"/>
              </a:defRPr>
            </a:pPr>
            <a:r>
              <a:t>Soft Median  0.619    0.869     0.759</a:t>
            </a:r>
          </a:p>
        </p:txBody>
      </p:sp>
      <p:pic>
        <p:nvPicPr>
          <p:cNvPr id="11" name="Picture 10" descr="fig_error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57600"/>
            <a:ext cx="4114800" cy="33787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943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Mean pairwise error correlation = 0.66 &lt; 0.85 → ensemble adds genuine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Ensemble Predictions on Test Holdout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pic>
        <p:nvPicPr>
          <p:cNvPr id="8" name="Picture 7" descr="fig_ensembl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78992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Calibri"/>
              </a:defRPr>
            </a:pPr>
            <a:r>
              <a:t>Top: Soft mean percentile score vs. threshold. Red = true risk-off. Bottom: predicted vs. actual signals. The ensemble captures the COVID cluster and correctly filters calm periods.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Backtest Results: Strategy vs. Benchmarks (2019–2021)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pic>
        <p:nvPicPr>
          <p:cNvPr id="8" name="Picture 7" descr="fig_equity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7132320" cy="4328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9520" y="1097280"/>
            <a:ext cx="411480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3A5C"/>
                </a:solidFill>
                <a:latin typeface="Calibri"/>
              </a:defRPr>
            </a:pPr>
            <a:r>
              <a:t>              Strategy    60/40     B&amp;H</a:t>
            </a:r>
          </a:p>
          <a:p>
            <a:pPr>
              <a:spcAft>
                <a:spcPts val="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CAGR         35.2%      18.1%    24.2%</a:t>
            </a:r>
          </a:p>
          <a:p>
            <a:pPr>
              <a:spcAft>
                <a:spcPts val="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Sharpe       1.93        1.44      1.38</a:t>
            </a:r>
          </a:p>
          <a:p>
            <a:pPr>
              <a:spcAft>
                <a:spcPts val="2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Max DD     −12.1%    −21.5%   −27.7%</a:t>
            </a:r>
          </a:p>
          <a:p>
            <a:pPr>
              <a:spcAft>
                <a:spcPts val="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Calmar       2.92        0.84      0.87</a:t>
            </a:r>
          </a:p>
          <a:p>
            <a:pPr>
              <a:defRPr sz="1100" b="0">
                <a:solidFill>
                  <a:srgbClr val="3C3C3C"/>
                </a:solidFill>
                <a:latin typeface="Calibri"/>
              </a:defRPr>
            </a:pPr>
            <a:r>
              <a:t>Turnover    3.9/yr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840480"/>
            <a:ext cx="4114800" cy="16459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9319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3A5C"/>
                </a:solidFill>
                <a:latin typeface="Calibri"/>
              </a:defRPr>
            </a:pPr>
            <a:r>
              <a:t>Allocation breakdown:</a:t>
            </a:r>
          </a:p>
          <a:p>
            <a:pPr>
              <a:spcAft>
                <a:spcPts val="200"/>
              </a:spcAft>
              <a:defRPr sz="1100" b="0">
                <a:solidFill>
                  <a:srgbClr val="27AE60"/>
                </a:solidFill>
                <a:latin typeface="Calibri"/>
              </a:defRPr>
            </a:pPr>
            <a:r>
              <a:t>Levered Equity: 103 weeks (85.8%)</a:t>
            </a:r>
          </a:p>
          <a:p>
            <a:pPr>
              <a:spcAft>
                <a:spcPts val="200"/>
              </a:spcAft>
              <a:defRPr sz="1100" b="0">
                <a:solidFill>
                  <a:srgbClr val="C8A000"/>
                </a:solidFill>
                <a:latin typeface="Calibri"/>
              </a:defRPr>
            </a:pPr>
            <a:r>
              <a:t>Gold: 8 weeks (6.7%)</a:t>
            </a:r>
          </a:p>
          <a:p>
            <a:pPr>
              <a:spcAft>
                <a:spcPts val="200"/>
              </a:spcAft>
              <a:defRPr sz="1100" b="0">
                <a:solidFill>
                  <a:srgbClr val="2980B9"/>
                </a:solidFill>
                <a:latin typeface="Calibri"/>
              </a:defRPr>
            </a:pPr>
            <a:r>
              <a:t>Cash USD: 8 weeks (6.7%)</a:t>
            </a:r>
          </a:p>
          <a:p>
            <a:pPr>
              <a:defRPr sz="1100" b="0">
                <a:solidFill>
                  <a:srgbClr val="8C8C8C"/>
                </a:solidFill>
                <a:latin typeface="Calibri"/>
              </a:defRPr>
            </a:pPr>
            <a:r>
              <a:t>MBS: 1 week (0.8%)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6692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A3A5C"/>
                </a:solidFill>
                <a:latin typeface="Calibri"/>
              </a:defRPr>
            </a:pPr>
            <a:r>
              <a:t>Leverage generates alpha in calm periods (103w at 1.5×),</a:t>
            </a:r>
          </a:p>
          <a:p>
            <a:pPr>
              <a:spcAft>
                <a:spcPts val="200"/>
              </a:spcAft>
              <a:defRPr sz="1000" b="1">
                <a:solidFill>
                  <a:srgbClr val="1A3A5C"/>
                </a:solidFill>
                <a:latin typeface="Calibri"/>
              </a:defRPr>
            </a:pPr>
            <a:r>
              <a:t>while EWS limits drawdowns: −12% vs −28% buy&amp;hold.</a:t>
            </a:r>
          </a:p>
          <a:p>
            <a:pPr>
              <a:defRPr sz="1000" b="1">
                <a:solidFill>
                  <a:srgbClr val="27AE60"/>
                </a:solidFill>
                <a:latin typeface="Calibri"/>
              </a:defRPr>
            </a:pPr>
            <a:r>
              <a:t>Leverage + early warning = superior Sharpe ratio.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COVID Stress Test: Trigger Analysis &amp; Allocation Routing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pic>
        <p:nvPicPr>
          <p:cNvPr id="8" name="Picture 7" descr="fig_stress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6858000" cy="2743200"/>
          </a:xfrm>
          <a:prstGeom prst="rect">
            <a:avLst/>
          </a:prstGeom>
        </p:spPr>
      </p:pic>
      <p:pic>
        <p:nvPicPr>
          <p:cNvPr id="9" name="Picture 8" descr="fig_covid_trigg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31920"/>
            <a:ext cx="68580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109728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C0392B"/>
                </a:solidFill>
                <a:latin typeface="Calibri"/>
              </a:defRPr>
            </a:pPr>
            <a:r>
              <a:t>COVID Crash (Feb–Apr 2020)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Ensemble signals risk-off as VIX spikes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USD triggers fire first: funding stress (LIBOR-3M widens), DXY rallies, VRP explodes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Routing → Cash USD and Gold</a:t>
            </a:r>
          </a:p>
          <a:p>
            <a:pPr>
              <a:spcAft>
                <a:spcPts val="8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MBS correctly blocked (VIX &gt; 30)</a:t>
            </a:r>
          </a:p>
          <a:p>
            <a:pPr>
              <a:spcAft>
                <a:spcPts val="4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t>COVID Recovery (Apr–Dec 2020)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Risk-off signals fade as markets stabilize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Returns to 1.5× equity, captures V-shaped rebound</a:t>
            </a:r>
          </a:p>
          <a:p>
            <a:pPr>
              <a:spcAft>
                <a:spcPts val="8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Gold score stays elevated (fiscal stimulus → inflation expectations)</a:t>
            </a:r>
          </a:p>
          <a:p>
            <a:pPr>
              <a:spcAft>
                <a:spcPts val="400"/>
              </a:spcAft>
              <a:defRPr sz="1300" b="1">
                <a:solidFill>
                  <a:srgbClr val="2980B9"/>
                </a:solidFill>
                <a:latin typeface="Calibri"/>
              </a:defRPr>
            </a:pPr>
            <a:r>
              <a:t>Reflation 2021</a:t>
            </a:r>
          </a:p>
          <a:p>
            <a:pPr>
              <a:spcAft>
                <a:spcPts val="200"/>
              </a:spcAft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Full equity exposure maintained</a:t>
            </a:r>
          </a:p>
          <a:p>
            <a:pPr>
              <a:defRPr sz="1000" b="0">
                <a:solidFill>
                  <a:srgbClr val="3C3C3C"/>
                </a:solidFill>
                <a:latin typeface="Calibri"/>
              </a:defRPr>
            </a:pPr>
            <a:r>
              <a:t>• No false alarms during re-opening rally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Domain Sub-Score Dynamics on Test Holdout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pic>
        <p:nvPicPr>
          <p:cNvPr id="8" name="Picture 7" descr="fig_sub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315200" cy="48399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Interpretation:</a:t>
            </a:r>
          </a:p>
          <a:p>
            <a:pPr>
              <a:spcAft>
                <a:spcPts val="400"/>
              </a:spcAft>
              <a:defRPr sz="1100" b="0">
                <a:solidFill>
                  <a:srgbClr val="2980B9"/>
                </a:solidFill>
                <a:latin typeface="Calibri"/>
              </a:defRPr>
            </a:pPr>
            <a:r>
              <a:t>USD sub-score (top): spikes during COVID crash — funding stress, DXY rally, VRP explosion</a:t>
            </a:r>
          </a:p>
          <a:p>
            <a:pPr>
              <a:spcAft>
                <a:spcPts val="400"/>
              </a:spcAft>
              <a:defRPr sz="1100" b="0">
                <a:solidFill>
                  <a:srgbClr val="C8A000"/>
                </a:solidFill>
                <a:latin typeface="Calibri"/>
              </a:defRPr>
            </a:pPr>
            <a:r>
              <a:t>Gold sub-score (mid): elevated during COVID and recovery — stimulus drives low real yields, DXY weakens</a:t>
            </a:r>
          </a:p>
          <a:p>
            <a:pPr>
              <a:spcAft>
                <a:spcPts val="800"/>
              </a:spcAft>
              <a:defRPr sz="1100" b="0">
                <a:solidFill>
                  <a:srgbClr val="8C8C8C"/>
                </a:solidFill>
                <a:latin typeface="Calibri"/>
              </a:defRPr>
            </a:pPr>
            <a:r>
              <a:t>MBS (bottom): activates only once — strict conditions correctly filter out acute stress</a:t>
            </a:r>
          </a:p>
          <a:p>
            <a:pPr>
              <a:defRPr sz="1100" b="0">
                <a:solidFill>
                  <a:srgbClr val="3C3C3C"/>
                </a:solidFill>
                <a:latin typeface="Calibri"/>
              </a:defRPr>
            </a:pPr>
            <a:r>
              <a:t>Red shading = true risk-off weeks. Sub-scores provide interpretable routing: you can trace which macro regime drove each allocation decision.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PROCESS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A5C"/>
                </a:solidFill>
                <a:latin typeface="Calibri"/>
              </a:defRPr>
            </a:pPr>
            <a:r>
              <a:t>Limitations, Conclusions &amp; Future Work</a:t>
            </a:r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28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8C8C"/>
                </a:solidFill>
                <a:latin typeface="Calibri"/>
              </a:defRPr>
            </a:pPr>
            <a: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Ercelli, Galli, Impenati, Mazzini — PoliMi GSoM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03520" cy="29260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Limitations (candidly)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Short test: 120 weeks, 9 switches — results depend on few trades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Thin CV folds 3–5: 2–10 positives, n_pos weighting mitigates but doesn't eliminate noise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Proxy constraints: MXUS ≠ MSCI World; log-ratios ≠ OAS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Weekly frequency misses intra-week volatility events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No 2022 data: inflation/rate shock regime not tested</a:t>
            </a:r>
          </a:p>
          <a:p>
            <a:pPr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At 1.5×, recall gap (35%) is a genuine concern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292608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Conclusions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Ensemble (F1=0.65) outperforms all single models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Domain-specific routing adds genuine intelligence vs. binary risk-on/off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Walk-forward + embargo = methodologically sound OOS evaluation</a:t>
            </a:r>
          </a:p>
          <a:p>
            <a:pPr>
              <a:spcAft>
                <a:spcPts val="300"/>
              </a:spcAft>
              <a:defRPr sz="1100" b="1">
                <a:solidFill>
                  <a:srgbClr val="1A3A5C"/>
                </a:solidFill>
                <a:latin typeface="Calibri"/>
              </a:defRPr>
            </a:pPr>
            <a:r>
              <a:t>• Strategy: Sharpe 1.93, Max DD −12% vs −28% buy&amp;hold</a:t>
            </a:r>
          </a:p>
          <a:p>
            <a:pPr>
              <a:defRPr sz="1100" b="1">
                <a:solidFill>
                  <a:srgbClr val="27AE60"/>
                </a:solidFill>
                <a:latin typeface="Calibri"/>
              </a:defRPr>
            </a:pPr>
            <a:r>
              <a:t>• Leverage + early warning = superior risk-adjusted returns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3A5C"/>
                </a:solidFill>
                <a:latin typeface="Calibri"/>
              </a:defRPr>
            </a:pPr>
            <a:r>
              <a:t>Future Work</a:t>
            </a:r>
          </a:p>
          <a:p>
            <a:pPr>
              <a:spcAft>
                <a:spcPts val="3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Daily frequency for finer granularity    • SHAP / Mahalanobis decomposition for signal attribution    • Include 2022–2025 data (inflation regime validation)</a:t>
            </a:r>
          </a:p>
          <a:p>
            <a:pPr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Regime-switching models (HMM) as benchmark    • Bootstrap CV for confidence intervals    • Dynamic threshold adaptation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